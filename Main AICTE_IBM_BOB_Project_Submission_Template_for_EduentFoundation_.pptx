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10"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66" autoAdjust="0"/>
    <p:restoredTop sz="95033" autoAdjust="0"/>
  </p:normalViewPr>
  <p:slideViewPr>
    <p:cSldViewPr snapToGrid="0">
      <p:cViewPr>
        <p:scale>
          <a:sx n="70" d="100"/>
          <a:sy n="70" d="100"/>
        </p:scale>
        <p:origin x="1219" y="3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543267982"/>
              </p:ext>
            </p:extLst>
          </p:nvPr>
        </p:nvGraphicFramePr>
        <p:xfrm>
          <a:off x="947057" y="2600314"/>
          <a:ext cx="10668000" cy="3083047"/>
        </p:xfrm>
        <a:graphic>
          <a:graphicData uri="http://schemas.openxmlformats.org/drawingml/2006/table">
            <a:tbl>
              <a:tblPr>
                <a:noFill/>
                <a:tableStyleId>{0AAD8F4D-43EB-41E5-8A38-28AB6DFB1B60}</a:tableStyleId>
              </a:tblPr>
              <a:tblGrid>
                <a:gridCol w="2344654">
                  <a:extLst>
                    <a:ext uri="{9D8B030D-6E8A-4147-A177-3AD203B41FA5}">
                      <a16:colId xmlns:a16="http://schemas.microsoft.com/office/drawing/2014/main" val="20000"/>
                    </a:ext>
                  </a:extLst>
                </a:gridCol>
                <a:gridCol w="2774449">
                  <a:extLst>
                    <a:ext uri="{9D8B030D-6E8A-4147-A177-3AD203B41FA5}">
                      <a16:colId xmlns:a16="http://schemas.microsoft.com/office/drawing/2014/main" val="20002"/>
                    </a:ext>
                  </a:extLst>
                </a:gridCol>
                <a:gridCol w="2952334">
                  <a:extLst>
                    <a:ext uri="{9D8B030D-6E8A-4147-A177-3AD203B41FA5}">
                      <a16:colId xmlns:a16="http://schemas.microsoft.com/office/drawing/2014/main" val="20003"/>
                    </a:ext>
                  </a:extLst>
                </a:gridCol>
                <a:gridCol w="2596563">
                  <a:extLst>
                    <a:ext uri="{9D8B030D-6E8A-4147-A177-3AD203B41FA5}">
                      <a16:colId xmlns:a16="http://schemas.microsoft.com/office/drawing/2014/main" val="20004"/>
                    </a:ext>
                  </a:extLst>
                </a:gridCol>
              </a:tblGrid>
              <a:tr h="138456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98480">
                <a:tc>
                  <a:txBody>
                    <a:bodyPr/>
                    <a:lstStyle/>
                    <a:p>
                      <a:pPr marL="0" marR="0" lvl="0" indent="0" algn="l" rtl="0">
                        <a:spcBef>
                          <a:spcPts val="0"/>
                        </a:spcBef>
                        <a:spcAft>
                          <a:spcPts val="0"/>
                        </a:spcAft>
                        <a:buNone/>
                      </a:pPr>
                      <a:r>
                        <a:rPr lang="en-IN" dirty="0"/>
                        <a:t>Ayush Bangwal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ayushbangwal@2005@gmail.com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9259387553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a:t>– </a:t>
            </a:r>
            <a:r>
              <a:rPr lang="en-US" sz="2400" b="1">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Research Agent</a:t>
            </a:r>
            <a:endParaRPr lang="en-IN" sz="2400" b="1" dirty="0">
              <a:highlight>
                <a:srgbClr val="FFFF00"/>
              </a:highlight>
            </a:endParaRPr>
          </a:p>
        </p:txBody>
      </p:sp>
      <p:pic>
        <p:nvPicPr>
          <p:cNvPr id="6" name="Picture 5">
            <a:extLst>
              <a:ext uri="{FF2B5EF4-FFF2-40B4-BE49-F238E27FC236}">
                <a16:creationId xmlns:a16="http://schemas.microsoft.com/office/drawing/2014/main" id="{FE66BB47-CE2D-1EF1-053A-E255CFA9527D}"/>
              </a:ext>
            </a:extLst>
          </p:cNvPr>
          <p:cNvPicPr>
            <a:picLocks noChangeAspect="1"/>
          </p:cNvPicPr>
          <p:nvPr/>
        </p:nvPicPr>
        <p:blipFill>
          <a:blip r:embed="rId3"/>
          <a:stretch>
            <a:fillRect/>
          </a:stretch>
        </p:blipFill>
        <p:spPr>
          <a:xfrm>
            <a:off x="3951514" y="4068939"/>
            <a:ext cx="1369395" cy="1369395"/>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pPr fontAlgn="base"/>
            <a:r>
              <a:rPr lang="en-US" b="1" dirty="0"/>
              <a:t>Problem Statement : </a:t>
            </a:r>
            <a:r>
              <a:rPr lang="en-IN" dirty="0"/>
              <a:t>Research Agent</a:t>
            </a:r>
            <a:r>
              <a:rPr lang="en-US" dirty="0"/>
              <a:t> </a:t>
            </a:r>
          </a:p>
          <a:p>
            <a:pPr fontAlgn="base"/>
            <a:endParaRPr lang="en-US" b="1" dirty="0"/>
          </a:p>
          <a:p>
            <a:pPr fontAlgn="base"/>
            <a:r>
              <a:rPr lang="en-US" b="1" dirty="0"/>
              <a:t>The Challenge</a:t>
            </a:r>
            <a:r>
              <a:rPr lang="en-US" dirty="0"/>
              <a:t> </a:t>
            </a:r>
          </a:p>
          <a:p>
            <a:pPr fontAlgn="base"/>
            <a:r>
              <a:rPr lang="en-US" dirty="0"/>
              <a:t>A Research Agent is an AI system designed to assist with academic and scientific research tasks. It can autonomously search for literature, summarize papers, and organize references. Using natural language processing, it understands research questions and retrieves relevant information. The agent can generate reports, suggest hypotheses, and even draft sections of research papers. It saves time by automating repetitive tasks like citation management and data extraction. Research Agents enhance efficiency, accuracy, and innovation in both academic and industrial R&amp;D. </a:t>
            </a:r>
          </a:p>
          <a:p>
            <a:pPr fontAlgn="base"/>
            <a:endParaRPr lang="en-US" dirty="0"/>
          </a:p>
          <a:p>
            <a:pPr fontAlgn="base"/>
            <a:r>
              <a:rPr lang="en-US" b="1" dirty="0"/>
              <a:t>The Objective</a:t>
            </a:r>
            <a:r>
              <a:rPr lang="en-US" dirty="0"/>
              <a:t> </a:t>
            </a:r>
          </a:p>
          <a:p>
            <a:r>
              <a:rPr lang="en-US" dirty="0"/>
              <a:t>Build an </a:t>
            </a:r>
            <a:r>
              <a:rPr lang="en-US" b="1" dirty="0"/>
              <a:t>AI-powered Research Agent</a:t>
            </a:r>
            <a:r>
              <a:rPr lang="en-US" dirty="0"/>
              <a:t> that helps students, researchers, and professionals with </a:t>
            </a:r>
            <a:r>
              <a:rPr lang="en-US" b="1" dirty="0"/>
              <a:t>efficient academic research and knowledge discovery</a:t>
            </a:r>
            <a:r>
              <a:rPr lang="en-US" dirty="0"/>
              <a:t>. The solution should:</a:t>
            </a:r>
          </a:p>
          <a:p>
            <a:pPr>
              <a:buFont typeface="Arial" panose="020B0604020202020204" pitchFamily="34" charset="0"/>
              <a:buChar char="•"/>
            </a:pPr>
            <a:r>
              <a:rPr lang="en-US" b="1" dirty="0"/>
              <a:t>Personalized Research Assistance</a:t>
            </a:r>
            <a:r>
              <a:rPr lang="en-US" dirty="0"/>
              <a:t> – Understand research topics and provide relevant information. </a:t>
            </a:r>
          </a:p>
          <a:p>
            <a:pPr>
              <a:buFont typeface="Arial" panose="020B0604020202020204" pitchFamily="34" charset="0"/>
              <a:buChar char="•"/>
            </a:pPr>
            <a:r>
              <a:rPr lang="en-US" b="1" dirty="0"/>
              <a:t>Research Paper RAG Retrieval</a:t>
            </a:r>
            <a:r>
              <a:rPr lang="en-US" dirty="0"/>
              <a:t> – Retrieve relevant research papers and reliable academic sources. </a:t>
            </a:r>
          </a:p>
          <a:p>
            <a:pPr>
              <a:buFont typeface="Arial" panose="020B0604020202020204" pitchFamily="34" charset="0"/>
              <a:buChar char="•"/>
            </a:pPr>
            <a:r>
              <a:rPr lang="en-US" b="1" dirty="0"/>
              <a:t>Paper Summarization</a:t>
            </a:r>
            <a:r>
              <a:rPr lang="en-US" dirty="0"/>
              <a:t> – Summarize research papers, methodologies, results, and findings. </a:t>
            </a:r>
          </a:p>
          <a:p>
            <a:pPr>
              <a:buFont typeface="Arial" panose="020B0604020202020204" pitchFamily="34" charset="0"/>
              <a:buChar char="•"/>
            </a:pPr>
            <a:r>
              <a:rPr lang="en-US" b="1" dirty="0"/>
              <a:t>Research Gap Detection</a:t>
            </a:r>
            <a:r>
              <a:rPr lang="en-US" dirty="0"/>
              <a:t> – Identify gaps, limitations, and unexplored areas in existing research. </a:t>
            </a:r>
          </a:p>
          <a:p>
            <a:pPr>
              <a:buFont typeface="Arial" panose="020B0604020202020204" pitchFamily="34" charset="0"/>
              <a:buChar char="•"/>
            </a:pPr>
            <a:r>
              <a:rPr lang="en-US" b="1" dirty="0"/>
              <a:t>Citation Management</a:t>
            </a:r>
            <a:r>
              <a:rPr lang="en-US" dirty="0"/>
              <a:t> – Organize references and generate citations in standard formats. </a:t>
            </a:r>
          </a:p>
          <a:p>
            <a:pPr>
              <a:buFont typeface="Arial" panose="020B0604020202020204" pitchFamily="34" charset="0"/>
              <a:buChar char="•"/>
            </a:pPr>
            <a:r>
              <a:rPr lang="en-US" b="1" dirty="0"/>
              <a:t>Research Idea Generation</a:t>
            </a:r>
            <a:r>
              <a:rPr lang="en-US" dirty="0"/>
              <a:t> – Suggest research questions, hypotheses, and potential solutions. </a:t>
            </a:r>
          </a:p>
          <a:p>
            <a:endParaRPr lang="en-US" b="1" dirty="0"/>
          </a:p>
          <a:p>
            <a:r>
              <a:rPr lang="en-US" b="1" dirty="0"/>
              <a:t>Multi-Agent System</a:t>
            </a:r>
            <a:r>
              <a:rPr lang="en-US" dirty="0"/>
              <a:t> –</a:t>
            </a:r>
          </a:p>
          <a:p>
            <a:pPr>
              <a:buFont typeface="Arial" panose="020B0604020202020204" pitchFamily="34" charset="0"/>
              <a:buChar char="•"/>
            </a:pPr>
            <a:r>
              <a:rPr lang="en-US" b="1" dirty="0"/>
              <a:t>Research Retrieval Agent</a:t>
            </a:r>
            <a:r>
              <a:rPr lang="en-US" dirty="0"/>
              <a:t> – Fetches relevant research papers. </a:t>
            </a:r>
          </a:p>
          <a:p>
            <a:pPr>
              <a:buFont typeface="Arial" panose="020B0604020202020204" pitchFamily="34" charset="0"/>
              <a:buChar char="•"/>
            </a:pPr>
            <a:r>
              <a:rPr lang="en-US" b="1" dirty="0"/>
              <a:t>Paper Analysis Agent</a:t>
            </a:r>
            <a:r>
              <a:rPr lang="en-US" dirty="0"/>
              <a:t> – Analyzes and summarizes papers. </a:t>
            </a:r>
          </a:p>
          <a:p>
            <a:pPr>
              <a:buFont typeface="Arial" panose="020B0604020202020204" pitchFamily="34" charset="0"/>
              <a:buChar char="•"/>
            </a:pPr>
            <a:r>
              <a:rPr lang="en-US" b="1" dirty="0"/>
              <a:t>Research Gap Agent</a:t>
            </a:r>
            <a:r>
              <a:rPr lang="en-US" dirty="0"/>
              <a:t> – Identifies research gaps. </a:t>
            </a:r>
          </a:p>
          <a:p>
            <a:pPr>
              <a:buFont typeface="Arial" panose="020B0604020202020204" pitchFamily="34" charset="0"/>
              <a:buChar char="•"/>
            </a:pPr>
            <a:r>
              <a:rPr lang="en-US" b="1" dirty="0"/>
              <a:t>Citation Agent</a:t>
            </a:r>
            <a:r>
              <a:rPr lang="en-US" dirty="0"/>
              <a:t> – Manages references and citations. </a:t>
            </a:r>
          </a:p>
          <a:p>
            <a:pPr>
              <a:buFont typeface="Arial" panose="020B0604020202020204" pitchFamily="34" charset="0"/>
              <a:buChar char="•"/>
            </a:pPr>
            <a:r>
              <a:rPr lang="en-US" b="1" dirty="0"/>
              <a:t>Report Generation Agent</a:t>
            </a:r>
            <a:r>
              <a:rPr lang="en-US" dirty="0"/>
              <a:t> – Generates structured research reports.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01205"/>
          </a:xfrm>
          <a:prstGeom prst="rect">
            <a:avLst/>
          </a:prstGeom>
          <a:noFill/>
        </p:spPr>
        <p:txBody>
          <a:bodyPr wrap="square" rtlCol="0">
            <a:spAutoFit/>
          </a:bodyPr>
          <a:lstStyle/>
          <a:p>
            <a:pPr fontAlgn="base"/>
            <a:endParaRPr lang="en-US" b="1" dirty="0"/>
          </a:p>
          <a:p>
            <a:r>
              <a:rPr lang="en-US" b="1" dirty="0"/>
              <a:t>Proposed Solution: </a:t>
            </a:r>
            <a:r>
              <a:rPr lang="en-IN" dirty="0"/>
              <a:t>AI-Powered Research Agent</a:t>
            </a:r>
            <a:endParaRPr lang="en-US" b="1" dirty="0"/>
          </a:p>
          <a:p>
            <a:r>
              <a:rPr lang="en-US" dirty="0"/>
              <a:t>The proposed solution is a </a:t>
            </a:r>
            <a:r>
              <a:rPr lang="en-US" b="1" dirty="0"/>
              <a:t>multi-agent AI-powered Research Agent</a:t>
            </a:r>
            <a:r>
              <a:rPr lang="en-US" dirty="0"/>
              <a:t> built using </a:t>
            </a:r>
            <a:r>
              <a:rPr lang="en-US" b="1" dirty="0"/>
              <a:t>IBM Bob, IBM watsonx.ai, and Granite Models</a:t>
            </a:r>
            <a:r>
              <a:rPr lang="en-US" dirty="0"/>
              <a:t> to assist students and researchers with literature review, paper analysis, and research report generation.</a:t>
            </a:r>
          </a:p>
          <a:p>
            <a:r>
              <a:rPr lang="en-US" dirty="0"/>
              <a:t>At its core, the solution uses a </a:t>
            </a:r>
            <a:r>
              <a:rPr lang="en-US" b="1" dirty="0"/>
              <a:t>Retrieval-Augmented Generation (RAG)</a:t>
            </a:r>
            <a:r>
              <a:rPr lang="en-US" dirty="0"/>
              <a:t> pipeline to retrieve relevant research papers from reliable academic sources. The papers are embedded and stored in a </a:t>
            </a:r>
            <a:r>
              <a:rPr lang="en-US" b="1" dirty="0"/>
              <a:t>vector database</a:t>
            </a:r>
            <a:r>
              <a:rPr lang="en-US" dirty="0"/>
              <a:t>, allowing the system to retrieve and summarize relevant research information using Granite models.</a:t>
            </a:r>
          </a:p>
          <a:p>
            <a:r>
              <a:rPr lang="en-US" dirty="0"/>
              <a:t>The system consists of five key agents:</a:t>
            </a:r>
          </a:p>
          <a:p>
            <a:r>
              <a:rPr lang="en-US" b="1" dirty="0"/>
              <a:t>Research Query Agent</a:t>
            </a:r>
            <a:r>
              <a:rPr lang="en-US" dirty="0"/>
              <a:t> – Understands the research question and generates relevant search queries.</a:t>
            </a:r>
          </a:p>
          <a:p>
            <a:r>
              <a:rPr lang="en-US" b="1" dirty="0"/>
              <a:t>Literature Retrieval Agent</a:t>
            </a:r>
            <a:r>
              <a:rPr lang="en-US" dirty="0"/>
              <a:t> – Retrieves relevant research papers and academic information using RAG.</a:t>
            </a:r>
          </a:p>
          <a:p>
            <a:r>
              <a:rPr lang="en-US" b="1" dirty="0"/>
              <a:t>Paper Analysis Agent</a:t>
            </a:r>
            <a:r>
              <a:rPr lang="en-US" dirty="0"/>
              <a:t> – Analyzes papers and extracts objectives, methodology, results, limitations, and findings.</a:t>
            </a:r>
          </a:p>
          <a:p>
            <a:r>
              <a:rPr lang="en-US" b="1" dirty="0"/>
              <a:t>Research Gap Agent</a:t>
            </a:r>
            <a:r>
              <a:rPr lang="en-US" dirty="0"/>
              <a:t> – Compares existing research and identifies research gaps, limitations, and unexplored areas.</a:t>
            </a:r>
          </a:p>
          <a:p>
            <a:r>
              <a:rPr lang="en-US" b="1" dirty="0"/>
              <a:t>Report Generation Agent</a:t>
            </a:r>
            <a:r>
              <a:rPr lang="en-US" dirty="0"/>
              <a:t> – Generates literature reviews, research ideas, citations, and structured research reports.</a:t>
            </a:r>
          </a:p>
          <a:p>
            <a:r>
              <a:rPr lang="en-US" dirty="0"/>
              <a:t>The solution includes a </a:t>
            </a:r>
            <a:r>
              <a:rPr lang="en-US" b="1" dirty="0"/>
              <a:t>user-friendly dashboard</a:t>
            </a:r>
            <a:r>
              <a:rPr lang="en-US" dirty="0"/>
              <a:t> built with </a:t>
            </a:r>
            <a:r>
              <a:rPr lang="en-US" dirty="0" err="1"/>
              <a:t>Streamlit</a:t>
            </a:r>
            <a:r>
              <a:rPr lang="en-US" dirty="0"/>
              <a:t> or React that displays retrieved papers, key findings, research trends, research gaps, and generated reports.</a:t>
            </a:r>
          </a:p>
          <a:p>
            <a:r>
              <a:rPr lang="en-US" b="1" dirty="0"/>
              <a:t>IBM Bob</a:t>
            </a:r>
            <a:r>
              <a:rPr lang="en-US" dirty="0"/>
              <a:t> is used to build and orchestrate the agent workflow, while </a:t>
            </a:r>
            <a:r>
              <a:rPr lang="en-US" b="1" dirty="0"/>
              <a:t>watsonx.ai</a:t>
            </a:r>
            <a:r>
              <a:rPr lang="en-US" dirty="0"/>
              <a:t> supports model deployment, embeddings, and AI governance. </a:t>
            </a:r>
            <a:r>
              <a:rPr lang="en-US" b="1" dirty="0"/>
              <a:t>Granite models</a:t>
            </a:r>
            <a:r>
              <a:rPr lang="en-US" dirty="0"/>
              <a:t> power reasoning, summarization, paper analysis, and report generation.</a:t>
            </a:r>
          </a:p>
          <a:p>
            <a:r>
              <a:rPr lang="en-US" dirty="0"/>
              <a:t>Overall, this solution provides an </a:t>
            </a:r>
            <a:r>
              <a:rPr lang="en-US" b="1" dirty="0"/>
              <a:t>end-to-end intelligent research assistant</a:t>
            </a:r>
            <a:r>
              <a:rPr lang="en-US" dirty="0"/>
              <a:t> that reduces the time required for literature review and helps researchers discover </a:t>
            </a:r>
            <a:r>
              <a:rPr lang="en-US" b="1" dirty="0"/>
              <a:t>relevant information, research gaps, and new research directions</a:t>
            </a:r>
            <a:r>
              <a:rPr lang="en-US" dirty="0"/>
              <a:t>.</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847207"/>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a:t>
            </a:r>
            <a:r>
              <a:rPr lang="en-US" sz="1800" b="1" dirty="0" err="1"/>
              <a:t>watsonx</a:t>
            </a:r>
            <a:r>
              <a:rPr lang="en-US" sz="1800" b="1" dirty="0"/>
              <a:t> Orchestrate</a:t>
            </a:r>
            <a:r>
              <a:rPr lang="en-US" sz="1800" dirty="0"/>
              <a:t> – For designing and orchestrating </a:t>
            </a:r>
            <a:r>
              <a:rPr lang="en-US" sz="1800" b="1" dirty="0"/>
              <a:t>multi-agent research workflows</a:t>
            </a:r>
            <a:r>
              <a:rPr lang="en-US" sz="1800" dirty="0"/>
              <a:t> visually.</a:t>
            </a:r>
          </a:p>
          <a:p>
            <a:pPr marL="285750" indent="-285750">
              <a:buFont typeface="Arial" panose="020B0604020202020204" pitchFamily="34" charset="0"/>
              <a:buChar char="•"/>
            </a:pPr>
            <a:r>
              <a:rPr lang="en-US" sz="1800" b="1" dirty="0"/>
              <a:t>IBM Granite Model</a:t>
            </a:r>
            <a:r>
              <a:rPr lang="en-US" sz="1800" dirty="0"/>
              <a:t> – For example, </a:t>
            </a:r>
            <a:r>
              <a:rPr lang="en-US" sz="1800" b="1" dirty="0"/>
              <a:t>ibm-granite-3-2-8b</a:t>
            </a:r>
            <a:r>
              <a:rPr lang="en-US" sz="1800" dirty="0"/>
              <a:t> – For </a:t>
            </a:r>
            <a:r>
              <a:rPr lang="en-US" sz="1800" b="1" dirty="0"/>
              <a:t>natural language understanding, reasoning, paper summarization, and research analysis</a:t>
            </a:r>
            <a:r>
              <a:rPr lang="en-US" sz="1800" dirty="0"/>
              <a:t>.</a:t>
            </a:r>
          </a:p>
          <a:p>
            <a:pPr marL="285750" indent="-285750">
              <a:buFont typeface="Arial" panose="020B0604020202020204" pitchFamily="34" charset="0"/>
              <a:buChar char="•"/>
            </a:pPr>
            <a:r>
              <a:rPr lang="en-US" sz="1800" b="1" dirty="0"/>
              <a:t>IBM Cloud</a:t>
            </a:r>
            <a:r>
              <a:rPr lang="en-US" sz="1800" dirty="0"/>
              <a:t> – Provides the infrastructure to </a:t>
            </a:r>
            <a:r>
              <a:rPr lang="en-US" sz="1800" b="1" dirty="0"/>
              <a:t>build, deploy, and scale the Research Agent</a:t>
            </a:r>
            <a:r>
              <a:rPr lang="en-US" sz="1800" dirty="0"/>
              <a:t> in a reliable, secure, and scalable environment.</a:t>
            </a:r>
          </a:p>
          <a:p>
            <a:pPr marL="285750" indent="-285750">
              <a:buFont typeface="Arial" panose="020B0604020202020204" pitchFamily="34" charset="0"/>
              <a:buChar char="•"/>
            </a:pPr>
            <a:r>
              <a:rPr lang="en-US" sz="1800" b="1" dirty="0"/>
              <a:t>RAG (Retrieval-Augmented Generation)</a:t>
            </a:r>
            <a:r>
              <a:rPr lang="en-US" sz="1800" dirty="0"/>
              <a:t> – To </a:t>
            </a:r>
            <a:r>
              <a:rPr lang="en-US" sz="1800" b="1" dirty="0"/>
              <a:t>retrieve real research papers and academic information first, then generate accurate and context-based responses</a:t>
            </a:r>
            <a:r>
              <a:rPr lang="en-US" sz="1800" dirty="0"/>
              <a:t>.</a:t>
            </a:r>
          </a:p>
          <a:p>
            <a:pPr marL="285750" indent="-285750">
              <a:buFont typeface="Arial" panose="020B0604020202020204" pitchFamily="34" charset="0"/>
              <a:buChar char="•"/>
            </a:pPr>
            <a:r>
              <a:rPr lang="en-US" sz="1800" dirty="0"/>
              <a:t>I</a:t>
            </a:r>
            <a:r>
              <a:rPr lang="en-US" sz="1800" b="1" dirty="0"/>
              <a:t>BM watsonx.ai</a:t>
            </a:r>
            <a:r>
              <a:rPr lang="en-US" sz="1800" dirty="0"/>
              <a:t> – For </a:t>
            </a:r>
            <a:r>
              <a:rPr lang="en-US" sz="1800" b="1" dirty="0"/>
              <a:t>model deployment, embeddings, AI development, and governance</a:t>
            </a:r>
            <a:r>
              <a:rPr lang="en-US" sz="1800" dirty="0"/>
              <a:t>.</a:t>
            </a:r>
          </a:p>
          <a:p>
            <a:pPr marL="285750" indent="-285750">
              <a:buFont typeface="Arial" panose="020B0604020202020204" pitchFamily="34" charset="0"/>
              <a:buChar char="•"/>
            </a:pPr>
            <a:r>
              <a:rPr lang="en-US" sz="1800" b="1" dirty="0"/>
              <a:t>Vector Database (FAISS/Chroma)</a:t>
            </a:r>
            <a:r>
              <a:rPr lang="en-US" sz="1800" dirty="0"/>
              <a:t> – For storing and retrieving </a:t>
            </a:r>
            <a:r>
              <a:rPr lang="en-US" sz="1800" b="1" dirty="0"/>
              <a:t>research paper embeddings and relevant document chunks</a:t>
            </a:r>
            <a:r>
              <a:rPr lang="en-US" sz="1800" dirty="0"/>
              <a:t> efficiently.</a:t>
            </a:r>
          </a:p>
          <a:p>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D2F81214-BCE4-A374-4122-6D8B43A75C84}"/>
              </a:ext>
            </a:extLst>
          </p:cNvPr>
          <p:cNvPicPr>
            <a:picLocks noChangeAspect="1"/>
          </p:cNvPicPr>
          <p:nvPr/>
        </p:nvPicPr>
        <p:blipFill>
          <a:blip r:embed="rId3"/>
          <a:stretch>
            <a:fillRect/>
          </a:stretch>
        </p:blipFill>
        <p:spPr>
          <a:xfrm>
            <a:off x="4097866" y="1083118"/>
            <a:ext cx="7619312" cy="5268461"/>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74ACD4BD-D14C-D2A6-8B3A-753D51FE7522}"/>
              </a:ext>
            </a:extLst>
          </p:cNvPr>
          <p:cNvPicPr>
            <a:picLocks noChangeAspect="1"/>
          </p:cNvPicPr>
          <p:nvPr/>
        </p:nvPicPr>
        <p:blipFill>
          <a:blip r:embed="rId3"/>
          <a:stretch>
            <a:fillRect/>
          </a:stretch>
        </p:blipFill>
        <p:spPr>
          <a:xfrm>
            <a:off x="741860" y="1038578"/>
            <a:ext cx="10637340" cy="5057422"/>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91632B-1C5A-0773-E931-24AF727BFEB5}"/>
              </a:ext>
            </a:extLst>
          </p:cNvPr>
          <p:cNvPicPr>
            <a:picLocks noChangeAspect="1"/>
          </p:cNvPicPr>
          <p:nvPr/>
        </p:nvPicPr>
        <p:blipFill>
          <a:blip r:embed="rId2"/>
          <a:stretch>
            <a:fillRect/>
          </a:stretch>
        </p:blipFill>
        <p:spPr>
          <a:xfrm>
            <a:off x="1276350" y="158868"/>
            <a:ext cx="9873447" cy="6699131"/>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09836DE9-37BF-DF67-91A0-62C23239337B}"/>
              </a:ext>
            </a:extLst>
          </p:cNvPr>
          <p:cNvPicPr>
            <a:picLocks noChangeAspect="1"/>
          </p:cNvPicPr>
          <p:nvPr/>
        </p:nvPicPr>
        <p:blipFill>
          <a:blip r:embed="rId3"/>
          <a:stretch>
            <a:fillRect/>
          </a:stretch>
        </p:blipFill>
        <p:spPr>
          <a:xfrm>
            <a:off x="315686" y="979714"/>
            <a:ext cx="11136085" cy="5440680"/>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32092"/>
          </a:xfrm>
          <a:prstGeom prst="rect">
            <a:avLst/>
          </a:prstGeom>
          <a:noFill/>
        </p:spPr>
        <p:txBody>
          <a:bodyPr wrap="square" rtlCol="0">
            <a:spAutoFit/>
          </a:bodyPr>
          <a:lstStyle/>
          <a:p>
            <a:r>
              <a:rPr lang="en-US" b="1" dirty="0"/>
              <a:t>Role of Agentic AI in Research Agent</a:t>
            </a:r>
          </a:p>
          <a:p>
            <a:r>
              <a:rPr lang="en-US" b="1" dirty="0"/>
              <a:t>Agentic AI</a:t>
            </a:r>
            <a:r>
              <a:rPr lang="en-US" dirty="0"/>
              <a:t> enables the Research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support academic and scientific research.</a:t>
            </a:r>
          </a:p>
          <a:p>
            <a:r>
              <a:rPr lang="en-US" dirty="0"/>
              <a:t>Each agent performs a specific role—such as understanding research queries, retrieving research papers, analyzing literature, identifying research gaps, and generating research reports—while working collaboratively. This </a:t>
            </a:r>
            <a:r>
              <a:rPr lang="en-US" b="1" dirty="0"/>
              <a:t>multi-agent approach</a:t>
            </a:r>
            <a:r>
              <a:rPr lang="en-US" dirty="0"/>
              <a:t> ensures efficient research task execution and relevant results.</a:t>
            </a:r>
          </a:p>
          <a:p>
            <a:r>
              <a:rPr lang="en-US" dirty="0"/>
              <a:t>Agentic AI also provides </a:t>
            </a:r>
            <a:r>
              <a:rPr lang="en-US" b="1" dirty="0"/>
              <a:t>context awareness</a:t>
            </a:r>
            <a:r>
              <a:rPr lang="en-US" dirty="0"/>
              <a:t>, understanding the user's research topic and requirements to retrieve and analyze relevant information. It supports </a:t>
            </a:r>
            <a:r>
              <a:rPr lang="en-US" b="1" dirty="0"/>
              <a:t>real-time adaptation</a:t>
            </a:r>
            <a:r>
              <a:rPr lang="en-US" dirty="0"/>
              <a:t>, refining the research process based on user queries and feedback.</a:t>
            </a:r>
          </a:p>
          <a:p>
            <a:r>
              <a:rPr lang="en-US" dirty="0"/>
              <a:t>Additionally, the agents communicate with each other, enabling better </a:t>
            </a:r>
            <a:r>
              <a:rPr lang="en-US" b="1" dirty="0"/>
              <a:t>literature analysis, research-gap identification, and decision-making</a:t>
            </a:r>
            <a:r>
              <a:rPr lang="en-US" dirty="0"/>
              <a:t>.</a:t>
            </a:r>
          </a:p>
          <a:p>
            <a:r>
              <a:rPr lang="en-US" dirty="0"/>
              <a:t>Overall, Agentic AI makes the system </a:t>
            </a:r>
            <a:r>
              <a:rPr lang="en-US" b="1" dirty="0"/>
              <a:t>intelligent, efficient, research-focused, and goal-driven</a:t>
            </a:r>
            <a:r>
              <a:rPr lang="en-US" dirty="0"/>
              <a:t>, acting like a </a:t>
            </a:r>
            <a:r>
              <a:rPr lang="en-US" b="1" dirty="0"/>
              <a:t>smart digital research assistant</a:t>
            </a:r>
            <a:r>
              <a:rPr lang="en-US" dirty="0"/>
              <a:t> that helps users discover knowledge and develop new research ideas.</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a:extLst>
              <a:ext uri="{FF2B5EF4-FFF2-40B4-BE49-F238E27FC236}">
                <a16:creationId xmlns:a16="http://schemas.microsoft.com/office/drawing/2014/main" id="{96A75914-0752-44E2-B096-12C23134CD0F}"/>
              </a:ext>
            </a:extLst>
          </p:cNvPr>
          <p:cNvPicPr>
            <a:picLocks noChangeAspect="1"/>
          </p:cNvPicPr>
          <p:nvPr/>
        </p:nvPicPr>
        <p:blipFill>
          <a:blip r:embed="rId3"/>
          <a:stretch>
            <a:fillRect/>
          </a:stretch>
        </p:blipFill>
        <p:spPr>
          <a:xfrm>
            <a:off x="213995" y="2290439"/>
            <a:ext cx="3981450" cy="4210050"/>
          </a:xfrm>
          <a:prstGeom prst="rect">
            <a:avLst/>
          </a:prstGeom>
        </p:spPr>
      </p:pic>
      <p:pic>
        <p:nvPicPr>
          <p:cNvPr id="8" name="Picture 7">
            <a:extLst>
              <a:ext uri="{FF2B5EF4-FFF2-40B4-BE49-F238E27FC236}">
                <a16:creationId xmlns:a16="http://schemas.microsoft.com/office/drawing/2014/main" id="{C528CFE0-B121-46DF-99E5-51CCD3BC4DAD}"/>
              </a:ext>
            </a:extLst>
          </p:cNvPr>
          <p:cNvPicPr>
            <a:picLocks noChangeAspect="1"/>
          </p:cNvPicPr>
          <p:nvPr/>
        </p:nvPicPr>
        <p:blipFill>
          <a:blip r:embed="rId4"/>
          <a:stretch>
            <a:fillRect/>
          </a:stretch>
        </p:blipFill>
        <p:spPr>
          <a:xfrm>
            <a:off x="7237688" y="2647626"/>
            <a:ext cx="3333750" cy="3495675"/>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0AF7F66E-AA6E-D927-1B88-E3C19C89D3A8}"/>
              </a:ext>
            </a:extLst>
          </p:cNvPr>
          <p:cNvPicPr>
            <a:picLocks noChangeAspect="1"/>
          </p:cNvPicPr>
          <p:nvPr/>
        </p:nvPicPr>
        <p:blipFill>
          <a:blip r:embed="rId3"/>
          <a:stretch>
            <a:fillRect/>
          </a:stretch>
        </p:blipFill>
        <p:spPr>
          <a:xfrm>
            <a:off x="315686" y="1044263"/>
            <a:ext cx="11223171" cy="5416712"/>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7ADDF0D0-9B02-1E08-5333-7FB69AFBD0A1}"/>
              </a:ext>
            </a:extLst>
          </p:cNvPr>
          <p:cNvPicPr>
            <a:picLocks noChangeAspect="1"/>
          </p:cNvPicPr>
          <p:nvPr/>
        </p:nvPicPr>
        <p:blipFill>
          <a:blip r:embed="rId3"/>
          <a:stretch>
            <a:fillRect/>
          </a:stretch>
        </p:blipFill>
        <p:spPr>
          <a:xfrm>
            <a:off x="426555" y="816977"/>
            <a:ext cx="10973276" cy="568963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878FC9-DFFE-3473-435E-C506BC18B913}"/>
              </a:ext>
            </a:extLst>
          </p:cNvPr>
          <p:cNvPicPr>
            <a:picLocks noChangeAspect="1"/>
          </p:cNvPicPr>
          <p:nvPr/>
        </p:nvPicPr>
        <p:blipFill>
          <a:blip r:embed="rId2"/>
          <a:stretch>
            <a:fillRect/>
          </a:stretch>
        </p:blipFill>
        <p:spPr>
          <a:xfrm>
            <a:off x="500743" y="896586"/>
            <a:ext cx="11190514" cy="5538739"/>
          </a:xfrm>
          <a:prstGeom prst="rect">
            <a:avLst/>
          </a:prstGeom>
        </p:spPr>
      </p:pic>
      <p:sp>
        <p:nvSpPr>
          <p:cNvPr id="6" name="TextBox 5">
            <a:extLst>
              <a:ext uri="{FF2B5EF4-FFF2-40B4-BE49-F238E27FC236}">
                <a16:creationId xmlns:a16="http://schemas.microsoft.com/office/drawing/2014/main" id="{3B83C0B7-F270-7940-F0A1-A46D5B9A8305}"/>
              </a:ext>
            </a:extLst>
          </p:cNvPr>
          <p:cNvSpPr txBox="1"/>
          <p:nvPr/>
        </p:nvSpPr>
        <p:spPr>
          <a:xfrm>
            <a:off x="2166257" y="268786"/>
            <a:ext cx="5747657" cy="677108"/>
          </a:xfrm>
          <a:prstGeom prst="rect">
            <a:avLst/>
          </a:prstGeom>
          <a:noFill/>
        </p:spPr>
        <p:txBody>
          <a:bodyPr wrap="square" rtlCol="0">
            <a:spAutoFit/>
          </a:bodyPr>
          <a:lstStyle/>
          <a:p>
            <a:r>
              <a:rPr lang="en-US" b="1" dirty="0">
                <a:sym typeface="Times New Roman"/>
              </a:rPr>
              <a:t> </a:t>
            </a:r>
            <a:r>
              <a:rPr lang="en-US" sz="2400" b="1" dirty="0">
                <a:sym typeface="Times New Roman"/>
              </a:rPr>
              <a:t>Project Output Screenshot</a:t>
            </a:r>
          </a:p>
          <a:p>
            <a:endParaRPr lang="en-IN" dirty="0"/>
          </a:p>
        </p:txBody>
      </p:sp>
    </p:spTree>
    <p:extLst>
      <p:ext uri="{BB962C8B-B14F-4D97-AF65-F5344CB8AC3E}">
        <p14:creationId xmlns:p14="http://schemas.microsoft.com/office/powerpoint/2010/main" val="465026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570756"/>
          </a:xfrm>
          <a:prstGeom prst="rect">
            <a:avLst/>
          </a:prstGeom>
          <a:noFill/>
        </p:spPr>
        <p:txBody>
          <a:bodyPr wrap="square" rtlCol="0">
            <a:spAutoFit/>
          </a:bodyPr>
          <a:lstStyle/>
          <a:p>
            <a:r>
              <a:rPr lang="en-US" sz="1800" dirty="0"/>
              <a:t>The proposed </a:t>
            </a:r>
            <a:r>
              <a:rPr lang="en-US" sz="1800" b="1" dirty="0"/>
              <a:t>Research Agent</a:t>
            </a:r>
            <a:r>
              <a:rPr lang="en-US" sz="1800" dirty="0"/>
              <a:t> stands out by combining </a:t>
            </a:r>
            <a:r>
              <a:rPr lang="en-US" sz="1800" b="1" dirty="0"/>
              <a:t>Agentic AI, RAG, and automated research analysis</a:t>
            </a:r>
            <a:r>
              <a:rPr lang="en-US" sz="1800" dirty="0"/>
              <a:t> into a single intelligent system.</a:t>
            </a:r>
          </a:p>
          <a:p>
            <a:r>
              <a:rPr lang="en-US" sz="1800" b="1" dirty="0"/>
              <a:t>Multi-Agent Intelligence</a:t>
            </a:r>
            <a:r>
              <a:rPr lang="en-US" sz="1800" dirty="0"/>
              <a:t> – Multiple specialized agents collaborate to understand queries, retrieve literature, analyze papers, identify research gaps, and generate reports.</a:t>
            </a:r>
          </a:p>
          <a:p>
            <a:r>
              <a:rPr lang="en-US" sz="1800" b="1" dirty="0"/>
              <a:t>RAG-Based Accuracy</a:t>
            </a:r>
            <a:r>
              <a:rPr lang="en-US" sz="1800" dirty="0"/>
              <a:t> – Retrieves relevant information from research papers before generating responses, improving the relevance and reliability of research insights.</a:t>
            </a:r>
          </a:p>
          <a:p>
            <a:r>
              <a:rPr lang="en-US" sz="1800" b="1" dirty="0"/>
              <a:t>Intelligent Research Analysis</a:t>
            </a:r>
            <a:r>
              <a:rPr lang="en-US" sz="1800" dirty="0"/>
              <a:t> – Automatically extracts key information such as objectives, methodologies, results, and limitations from research papers.</a:t>
            </a:r>
          </a:p>
          <a:p>
            <a:r>
              <a:rPr lang="en-US" sz="1800" b="1" dirty="0"/>
              <a:t>Research Gap Identification</a:t>
            </a:r>
            <a:r>
              <a:rPr lang="en-US" sz="1800" dirty="0"/>
              <a:t> – Compares existing literature to identify unexplored areas, limitations, and potential research opportunities.</a:t>
            </a:r>
          </a:p>
          <a:p>
            <a:r>
              <a:rPr lang="en-US" sz="1800" b="1" dirty="0"/>
              <a:t>Context-Aware Research</a:t>
            </a:r>
            <a:r>
              <a:rPr lang="en-US" sz="1800" dirty="0"/>
              <a:t> – Understands the user's research topic and requirements to provide relevant literature and focused insights.</a:t>
            </a:r>
          </a:p>
          <a:p>
            <a:r>
              <a:rPr lang="en-US" sz="1800" b="1" dirty="0"/>
              <a:t>Automated Report Generation</a:t>
            </a:r>
            <a:r>
              <a:rPr lang="en-US" sz="1800" dirty="0"/>
              <a:t> – Generates structured literature reviews, research summaries, research ideas, and reports.</a:t>
            </a:r>
          </a:p>
          <a:p>
            <a:r>
              <a:rPr lang="en-US" sz="1800" b="1" dirty="0"/>
              <a:t>Real-Time Research Assistance</a:t>
            </a:r>
            <a:r>
              <a:rPr lang="en-US" sz="1800" dirty="0"/>
              <a:t> – Continuously refines results based on user queries and feedback.</a:t>
            </a:r>
          </a:p>
          <a:p>
            <a:r>
              <a:rPr lang="en-US" sz="1800" b="1" dirty="0"/>
              <a:t>Scalable &amp; Enterprise-Ready</a:t>
            </a:r>
            <a:r>
              <a:rPr lang="en-US" sz="1800" dirty="0"/>
              <a:t> – Built using </a:t>
            </a:r>
            <a:r>
              <a:rPr lang="en-US" sz="1800" b="1" dirty="0"/>
              <a:t>IBM watsonx.ai and IBM Granite models</a:t>
            </a:r>
            <a:r>
              <a:rPr lang="en-US" sz="1800" dirty="0"/>
              <a:t>, supporting reliable AI-based research workflows.</a:t>
            </a:r>
          </a:p>
          <a:p>
            <a:r>
              <a:rPr lang="en-US" sz="1800" dirty="0"/>
              <a:t>This makes the solution a </a:t>
            </a:r>
            <a:r>
              <a:rPr lang="en-US" sz="1800" b="1" dirty="0"/>
              <a:t>smart, adaptive, and proactive digital research assistant</a:t>
            </a:r>
            <a:r>
              <a:rPr lang="en-US" sz="1800" dirty="0"/>
              <a:t>, rather than just a conventional research search or chatbot tool.</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link- https://github.com/Ayushbangwal/Research-Agent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044263"/>
            <a:ext cx="9214580" cy="4454453"/>
          </a:xfrm>
          <a:prstGeom prst="rect">
            <a:avLst/>
          </a:prstGeom>
          <a:noFill/>
          <a:ln>
            <a:noFill/>
          </a:ln>
        </p:spPr>
        <p:txBody>
          <a:bodyPr spcFirstLastPara="1" wrap="square" lIns="0" tIns="0" rIns="0" bIns="0" anchor="t" anchorCtr="0">
            <a:noAutofit/>
          </a:bodyPr>
          <a:lstStyle/>
          <a:p>
            <a:pPr marL="342900" indent="-342900">
              <a:buAutoNum type="arabicPeriod"/>
            </a:pPr>
            <a:r>
              <a:rPr lang="en-US" sz="1800" b="1" dirty="0">
                <a:latin typeface="Times New Roman" panose="02020603050405020304" pitchFamily="18" charset="0"/>
                <a:cs typeface="Times New Roman" panose="02020603050405020304" pitchFamily="18" charset="0"/>
              </a:rPr>
              <a:t>Integration with Academic Databases &amp; Research Platforms –</a:t>
            </a:r>
          </a:p>
          <a:p>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system can be integrated with academic databases and research platforms to access a larger collection of research papers. This will enable the Research Agent to provide more comprehensive and up-to-date literature analysis.</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2. AI-Powered Voice Assistant &amp; Multilingual Support –</a:t>
            </a:r>
          </a:p>
          <a:p>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Enhancing the system with voice interaction and support for multiple languages will improve accessibility. Users can ask research questions naturally in their preferred language, making the solution more inclusive and user-friendly.</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3. Advanced Research Gap &amp; Trend Analysis –</a:t>
            </a:r>
          </a:p>
          <a:p>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system can be extended to analyze large volumes of research papers to identify emerging research trends, unexplored areas, and potential future research directions.</a:t>
            </a:r>
          </a:p>
          <a:p>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4. Automated Citation &amp; Reference Management –</a:t>
            </a:r>
          </a:p>
          <a:p>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Future versions can automatically generate and manage citations in formats such as IEEE, APA, and MLA, reducing the effort required for academic writing.</a:t>
            </a:r>
          </a:p>
          <a:p>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5" name="Picture 4">
            <a:extLst>
              <a:ext uri="{FF2B5EF4-FFF2-40B4-BE49-F238E27FC236}">
                <a16:creationId xmlns:a16="http://schemas.microsoft.com/office/drawing/2014/main" id="{0BD92DD0-710D-D28B-62E2-BECA5242E770}"/>
              </a:ext>
            </a:extLst>
          </p:cNvPr>
          <p:cNvPicPr>
            <a:picLocks noChangeAspect="1"/>
          </p:cNvPicPr>
          <p:nvPr/>
        </p:nvPicPr>
        <p:blipFill>
          <a:blip r:embed="rId2"/>
          <a:stretch>
            <a:fillRect/>
          </a:stretch>
        </p:blipFill>
        <p:spPr>
          <a:xfrm>
            <a:off x="2122714" y="1367169"/>
            <a:ext cx="6958476" cy="541526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4" name="Picture 3">
            <a:extLst>
              <a:ext uri="{FF2B5EF4-FFF2-40B4-BE49-F238E27FC236}">
                <a16:creationId xmlns:a16="http://schemas.microsoft.com/office/drawing/2014/main" id="{90A140E6-C9A4-42DA-DF30-52E49A548D82}"/>
              </a:ext>
            </a:extLst>
          </p:cNvPr>
          <p:cNvPicPr>
            <a:picLocks noChangeAspect="1"/>
          </p:cNvPicPr>
          <p:nvPr/>
        </p:nvPicPr>
        <p:blipFill>
          <a:blip r:embed="rId2"/>
          <a:stretch>
            <a:fillRect/>
          </a:stretch>
        </p:blipFill>
        <p:spPr>
          <a:xfrm>
            <a:off x="1360714" y="1323383"/>
            <a:ext cx="8577833" cy="5308226"/>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569</TotalTime>
  <Words>1489</Words>
  <Application>Microsoft Office PowerPoint</Application>
  <PresentationFormat>Widescreen</PresentationFormat>
  <Paragraphs>146</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yashu bangwal</cp:lastModifiedBy>
  <cp:revision>9</cp:revision>
  <dcterms:created xsi:type="dcterms:W3CDTF">2025-07-08T05:06:56Z</dcterms:created>
  <dcterms:modified xsi:type="dcterms:W3CDTF">2026-09-10T17:22:30Z</dcterms:modified>
</cp:coreProperties>
</file>